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62" r:id="rId8"/>
    <p:sldId id="287" r:id="rId9"/>
    <p:sldId id="288" r:id="rId10"/>
    <p:sldId id="289" r:id="rId11"/>
    <p:sldId id="264"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86"/>
  </p:normalViewPr>
  <p:slideViewPr>
    <p:cSldViewPr snapToGrid="0">
      <p:cViewPr varScale="1">
        <p:scale>
          <a:sx n="69" d="100"/>
          <a:sy n="69" d="100"/>
        </p:scale>
        <p:origin x="7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691067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7737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4696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3345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346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kankshakuwar/payguard-payment-safety.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a:t>
            </a:r>
            <a:r>
              <a:rPr lang="en-US" b="1" i="1" dirty="0" smtClean="0"/>
              <a:t>Orchestrate”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0620131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sz="2400" dirty="0" smtClean="0"/>
                        <a:t>Akanksha Kuwar</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smtClean="0"/>
                        <a:t>akankshakuwar0508@gmail.com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8888898605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solidFill>
            <a:schemeClr val="bg1"/>
          </a:solidFill>
        </p:spPr>
        <p:txBody>
          <a:bodyPr wrap="square" rtlCol="0">
            <a:spAutoFit/>
          </a:bodyPr>
          <a:lstStyle/>
          <a:p>
            <a:r>
              <a:rPr lang="en-US" sz="2400" b="1" dirty="0"/>
              <a:t>Domain of  Project – </a:t>
            </a:r>
            <a:r>
              <a:rPr lang="en-US" sz="2400" b="1" dirty="0" smtClean="0"/>
              <a:t>AI/ML</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4" y="551965"/>
            <a:ext cx="9581177" cy="830997"/>
          </a:xfrm>
          <a:prstGeom prst="rect">
            <a:avLst/>
          </a:prstGeom>
          <a:noFill/>
        </p:spPr>
        <p:txBody>
          <a:bodyPr wrap="square" rtlCol="0">
            <a:spAutoFit/>
          </a:bodyPr>
          <a:lstStyle/>
          <a:p>
            <a:r>
              <a:rPr lang="en-US" sz="2400" b="1" dirty="0"/>
              <a:t>Project </a:t>
            </a:r>
            <a:r>
              <a:rPr lang="en-US" sz="2400" b="1" dirty="0" smtClean="0"/>
              <a:t>Title </a:t>
            </a:r>
            <a:r>
              <a:rPr lang="en-US" sz="2400" b="1" dirty="0"/>
              <a:t>– </a:t>
            </a:r>
            <a:r>
              <a:rPr lang="en-IN" sz="2400" b="1" dirty="0"/>
              <a:t>PayGuard: Zero-PII Autonomous Fraud Risk Engine</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257418" y="763972"/>
            <a:ext cx="10607040" cy="6370975"/>
          </a:xfrm>
          <a:prstGeom prst="rect">
            <a:avLst/>
          </a:prstGeom>
          <a:noFill/>
        </p:spPr>
        <p:txBody>
          <a:bodyPr wrap="square" rtlCol="0">
            <a:spAutoFit/>
          </a:bodyPr>
          <a:lstStyle/>
          <a:p>
            <a:r>
              <a:rPr lang="en-IN" sz="1600" dirty="0"/>
              <a:t>Modern financial platforms struggle to balance fraud mitigation with user privacy. Online payment scams and credential-harvesting banking frauds are rapidly increasing day by day. Traditional fraud detection engines rely heavily on decrypting and parsing sensitive data like primary account numbers, identifiers, or personal data. This creates significant vulnerability risks during the pipeline transit layer</a:t>
            </a:r>
            <a:r>
              <a:rPr lang="en-IN" sz="1600" dirty="0" smtClean="0"/>
              <a:t>.</a:t>
            </a:r>
          </a:p>
          <a:p>
            <a:endParaRPr lang="en-US" sz="1600" dirty="0"/>
          </a:p>
          <a:p>
            <a:r>
              <a:rPr lang="en-IN" sz="1600" b="1" dirty="0"/>
              <a:t>Core </a:t>
            </a:r>
            <a:r>
              <a:rPr lang="en-IN" sz="1600" b="1" dirty="0" smtClean="0"/>
              <a:t>Challenges:</a:t>
            </a:r>
            <a:endParaRPr lang="en-IN" sz="1600" b="1" dirty="0"/>
          </a:p>
          <a:p>
            <a:endParaRPr lang="en-IN" sz="1600" b="1" dirty="0" smtClean="0"/>
          </a:p>
          <a:p>
            <a:pPr marL="285750" indent="-285750">
              <a:buFont typeface="Wingdings" panose="05000000000000000000" pitchFamily="2" charset="2"/>
              <a:buChar char="q"/>
            </a:pPr>
            <a:r>
              <a:rPr lang="en-IN" sz="1600" b="1" dirty="0" smtClean="0"/>
              <a:t>Escalating Scams</a:t>
            </a:r>
            <a:r>
              <a:rPr lang="en-IN" sz="1600" dirty="0" smtClean="0"/>
              <a:t>: Growth in sophisticated phishing, social engineering, and rapid account-draining operations.</a:t>
            </a:r>
          </a:p>
          <a:p>
            <a:pPr marL="285750" indent="-285750">
              <a:buFont typeface="Wingdings" panose="05000000000000000000" pitchFamily="2" charset="2"/>
              <a:buChar char="q"/>
            </a:pPr>
            <a:r>
              <a:rPr lang="en-IN" sz="1600" b="1" dirty="0" smtClean="0"/>
              <a:t>Privacy </a:t>
            </a:r>
            <a:r>
              <a:rPr lang="en-IN" sz="1600" b="1" dirty="0"/>
              <a:t>Violations</a:t>
            </a:r>
            <a:r>
              <a:rPr lang="en-IN" sz="1600" dirty="0"/>
              <a:t>: Ingesting raw PII data risks compliance failures under strict global financial regulations.</a:t>
            </a:r>
          </a:p>
          <a:p>
            <a:pPr marL="285750" indent="-285750">
              <a:buFont typeface="Wingdings" panose="05000000000000000000" pitchFamily="2" charset="2"/>
              <a:buChar char="q"/>
            </a:pPr>
            <a:r>
              <a:rPr lang="en-IN" sz="1600" b="1" dirty="0"/>
              <a:t>High-Fidelity Attacks</a:t>
            </a:r>
            <a:r>
              <a:rPr lang="en-IN" sz="1600" dirty="0"/>
              <a:t>: Threat vectors like unverified hardware links or rapid velocity spikes bypass legacy checks.</a:t>
            </a:r>
          </a:p>
          <a:p>
            <a:pPr marL="285750" indent="-285750">
              <a:buFont typeface="Wingdings" panose="05000000000000000000" pitchFamily="2" charset="2"/>
              <a:buChar char="q"/>
            </a:pPr>
            <a:r>
              <a:rPr lang="en-IN" sz="1600" b="1" dirty="0"/>
              <a:t>System Friction</a:t>
            </a:r>
            <a:r>
              <a:rPr lang="en-IN" sz="1600" dirty="0"/>
              <a:t>: Rigid legacy fraud systems trigger excessive false positives, creating high customer friction</a:t>
            </a:r>
            <a:r>
              <a:rPr lang="en-IN" sz="1600" dirty="0" smtClean="0"/>
              <a:t>.</a:t>
            </a:r>
          </a:p>
          <a:p>
            <a:pPr marL="285750" indent="-285750">
              <a:buFont typeface="Wingdings" panose="05000000000000000000" pitchFamily="2" charset="2"/>
              <a:buChar char="q"/>
            </a:pPr>
            <a:endParaRPr lang="en-IN" sz="1600" b="1" dirty="0" smtClean="0"/>
          </a:p>
          <a:p>
            <a:r>
              <a:rPr lang="en-IN" sz="1600" b="1" dirty="0" smtClean="0"/>
              <a:t>Objectives:</a:t>
            </a:r>
          </a:p>
          <a:p>
            <a:endParaRPr lang="en-IN" sz="1600" dirty="0"/>
          </a:p>
          <a:p>
            <a:pPr marL="285750" lvl="0" indent="-285750">
              <a:buFont typeface="Arial" panose="020B0604020202020204" pitchFamily="34" charset="0"/>
              <a:buChar char="•"/>
            </a:pPr>
            <a:r>
              <a:rPr lang="en-IN" sz="1600" dirty="0"/>
              <a:t>Develop a </a:t>
            </a:r>
            <a:r>
              <a:rPr lang="en-IN" sz="1600" b="1" dirty="0"/>
              <a:t>Zero-PII Ingestion Pipeline</a:t>
            </a:r>
            <a:r>
              <a:rPr lang="en-IN" sz="1600" dirty="0"/>
              <a:t> that tokenizes and strips sensitive consumer credentials at the gateway layer.</a:t>
            </a:r>
          </a:p>
          <a:p>
            <a:pPr marL="285750" lvl="0" indent="-285750">
              <a:buFont typeface="Arial" panose="020B0604020202020204" pitchFamily="34" charset="0"/>
              <a:buChar char="•"/>
            </a:pPr>
            <a:r>
              <a:rPr lang="en-IN" sz="1600" dirty="0"/>
              <a:t>Implement an orchestration engine using </a:t>
            </a:r>
            <a:r>
              <a:rPr lang="en-IN" sz="1600" b="1" dirty="0"/>
              <a:t>watsonx foundation models</a:t>
            </a:r>
            <a:r>
              <a:rPr lang="en-IN" sz="1600" dirty="0"/>
              <a:t> to </a:t>
            </a:r>
            <a:r>
              <a:rPr lang="en-IN" sz="1600" dirty="0" err="1"/>
              <a:t>analyze</a:t>
            </a:r>
            <a:r>
              <a:rPr lang="en-IN" sz="1600" dirty="0"/>
              <a:t> unidentifiable structural metadata in real time.</a:t>
            </a:r>
          </a:p>
          <a:p>
            <a:pPr marL="285750" lvl="0" indent="-285750">
              <a:buFont typeface="Arial" panose="020B0604020202020204" pitchFamily="34" charset="0"/>
              <a:buChar char="•"/>
            </a:pPr>
            <a:r>
              <a:rPr lang="en-IN" sz="1600" dirty="0" smtClean="0"/>
              <a:t>Deploy </a:t>
            </a:r>
            <a:r>
              <a:rPr lang="en-IN" sz="1600" dirty="0"/>
              <a:t>a deterministic threat-scoring matrix to trigger automated containment playbooks against surging digital payment anomalies.</a:t>
            </a:r>
          </a:p>
          <a:p>
            <a:r>
              <a:rPr lang="en-IN" sz="1600" dirty="0"/>
              <a:t> </a:t>
            </a:r>
          </a:p>
          <a:p>
            <a:r>
              <a:rPr lang="en-IN" dirty="0"/>
              <a:t> </a:t>
            </a:r>
          </a:p>
          <a:p>
            <a:pPr fontAlgn="base"/>
            <a:r>
              <a:rPr lang="en-US" dirty="0" smtClean="0"/>
              <a:t>.</a:t>
            </a:r>
            <a:r>
              <a:rPr lang="en-US" dirty="0"/>
              <a:t> </a:t>
            </a:r>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257418" y="302307"/>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67512" y="1165753"/>
            <a:ext cx="10607040" cy="3754874"/>
          </a:xfrm>
          <a:prstGeom prst="rect">
            <a:avLst/>
          </a:prstGeom>
          <a:noFill/>
        </p:spPr>
        <p:txBody>
          <a:bodyPr wrap="square" rtlCol="0">
            <a:spAutoFit/>
          </a:bodyPr>
          <a:lstStyle/>
          <a:p>
            <a:pPr fontAlgn="base"/>
            <a:endParaRPr lang="en-US" b="1" dirty="0"/>
          </a:p>
          <a:p>
            <a:pPr marL="285750" indent="-285750">
              <a:buFont typeface="Arial" panose="020B0604020202020204" pitchFamily="34" charset="0"/>
              <a:buChar char="•"/>
            </a:pPr>
            <a:r>
              <a:rPr lang="en-IN" b="1" dirty="0" smtClean="0"/>
              <a:t>IBM </a:t>
            </a:r>
            <a:r>
              <a:rPr lang="en-IN" b="1" dirty="0"/>
              <a:t>watsonx Orchestrate UI Console</a:t>
            </a:r>
            <a:r>
              <a:rPr lang="en-IN" dirty="0"/>
              <a:t>: The native development environment used to build and orchestrate the autonomous fraud risk engine</a:t>
            </a:r>
            <a:r>
              <a:rPr lang="en-IN" dirty="0" smtClean="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W</a:t>
            </a:r>
            <a:r>
              <a:rPr lang="en-IN" b="1" dirty="0" smtClean="0"/>
              <a:t>atsonx </a:t>
            </a:r>
            <a:r>
              <a:rPr lang="en-IN" b="1" dirty="0"/>
              <a:t>Foundation Models</a:t>
            </a:r>
            <a:r>
              <a:rPr lang="en-IN" dirty="0"/>
              <a:t>: The core AI orchestration engine driving multi-skill logical processing while shielding backend systems</a:t>
            </a:r>
            <a:r>
              <a:rPr lang="en-IN" dirty="0" smtClean="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smtClean="0"/>
              <a:t>Retrieval-Augmented </a:t>
            </a:r>
            <a:r>
              <a:rPr lang="en-IN" b="1" dirty="0"/>
              <a:t>Generation (RAG) Layer</a:t>
            </a:r>
            <a:r>
              <a:rPr lang="en-IN" dirty="0"/>
              <a:t>: The embedded architecture component </a:t>
            </a:r>
            <a:r>
              <a:rPr lang="en-IN" dirty="0" smtClean="0"/>
              <a:t>binding my uploaded </a:t>
            </a:r>
            <a:r>
              <a:rPr lang="en-IN" dirty="0"/>
              <a:t>compliance documentation directly to the assistant's runtime layer</a:t>
            </a:r>
            <a:r>
              <a:rPr lang="en-IN" dirty="0" smtClean="0"/>
              <a:t>.</a:t>
            </a:r>
          </a:p>
          <a:p>
            <a:endParaRPr lang="en-IN" dirty="0"/>
          </a:p>
          <a:p>
            <a:pPr marL="285750" indent="-285750">
              <a:buFont typeface="Arial" panose="020B0604020202020204" pitchFamily="34" charset="0"/>
              <a:buChar char="•"/>
            </a:pPr>
            <a:r>
              <a:rPr lang="en-IN" b="1" dirty="0" smtClean="0"/>
              <a:t>HTML5</a:t>
            </a:r>
            <a:r>
              <a:rPr lang="en-IN" b="1" dirty="0"/>
              <a:t>, CSS3, &amp; JavaScript</a:t>
            </a:r>
            <a:r>
              <a:rPr lang="en-IN" dirty="0"/>
              <a:t>: Used to build the frontend interface landing page, the terminal UI telemetry module, and the floating chat application launcher widget.</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4185761"/>
          </a:xfrm>
          <a:prstGeom prst="rect">
            <a:avLst/>
          </a:prstGeom>
          <a:noFill/>
        </p:spPr>
        <p:txBody>
          <a:bodyPr wrap="square" rtlCol="0">
            <a:spAutoFit/>
          </a:bodyPr>
          <a:lstStyle/>
          <a:p>
            <a:r>
              <a:rPr lang="en-IN" dirty="0"/>
              <a:t>PayGuard is a privacy-first, autonomous fraud risk engine built natively within the </a:t>
            </a:r>
            <a:r>
              <a:rPr lang="en-IN" b="1" dirty="0"/>
              <a:t>IBM watsonx </a:t>
            </a:r>
            <a:r>
              <a:rPr lang="en-IN" b="1" dirty="0" smtClean="0"/>
              <a:t>Orchestrate</a:t>
            </a:r>
            <a:r>
              <a:rPr lang="en-IN" dirty="0" smtClean="0"/>
              <a:t>. </a:t>
            </a:r>
            <a:r>
              <a:rPr lang="en-IN" dirty="0"/>
              <a:t>It intercepts and aggregates non-identifiable payment metadata in real-time. By separating structural telemetry analysis from consumer identity, PayGuard provides a highly technical, zero-PII security verification layer to combat surging digital banking frauds and online scams</a:t>
            </a:r>
            <a:r>
              <a:rPr lang="en-IN" dirty="0" smtClean="0"/>
              <a:t>.</a:t>
            </a:r>
          </a:p>
          <a:p>
            <a:endParaRPr lang="en-IN" dirty="0"/>
          </a:p>
          <a:p>
            <a:r>
              <a:rPr lang="en-IN" b="1" dirty="0"/>
              <a:t>How PayGuard Solves Consumer and Industry </a:t>
            </a:r>
            <a:r>
              <a:rPr lang="en-IN" b="1" dirty="0" smtClean="0"/>
              <a:t>Problems:</a:t>
            </a:r>
            <a:endParaRPr lang="en-IN" dirty="0"/>
          </a:p>
          <a:p>
            <a:pPr lvl="0"/>
            <a:endParaRPr lang="en-IN" b="1" dirty="0" smtClean="0"/>
          </a:p>
          <a:p>
            <a:pPr marL="285750" lvl="0" indent="-285750">
              <a:buFont typeface="Arial" panose="020B0604020202020204" pitchFamily="34" charset="0"/>
              <a:buChar char="•"/>
            </a:pPr>
            <a:r>
              <a:rPr lang="en-IN" b="1" dirty="0" smtClean="0"/>
              <a:t>Eliminates </a:t>
            </a:r>
            <a:r>
              <a:rPr lang="en-IN" b="1" dirty="0"/>
              <a:t>Identity Vulnerability (Zero-PII)</a:t>
            </a:r>
            <a:r>
              <a:rPr lang="en-IN" dirty="0"/>
              <a:t>: Traditional engines decrypt sensitive records, risking data exposure during transit. PayGuard uses a dedicated ingestion pipeline to strip PANs, names, and OTPs. It evaluates security threats without holding data that hackers can exploit.</a:t>
            </a:r>
          </a:p>
          <a:p>
            <a:pPr marL="285750" lvl="0" indent="-285750">
              <a:buFont typeface="Arial" panose="020B0604020202020204" pitchFamily="34" charset="0"/>
              <a:buChar char="•"/>
            </a:pPr>
            <a:r>
              <a:rPr lang="en-IN" b="1" dirty="0"/>
              <a:t>Neutralizes Surging Digital Scams</a:t>
            </a:r>
            <a:r>
              <a:rPr lang="en-IN" dirty="0"/>
              <a:t>: Sophisticated fraud (like late-night account drains, rapid velocity surges, or compromised QR codes) easily bypass legacy rules. PayGuard uses a sequential 3-skill prompt architecture to evaluate advanced biometric and timing telemetry instantly.</a:t>
            </a:r>
          </a:p>
          <a:p>
            <a:pPr marL="285750" lvl="0" indent="-285750">
              <a:buFont typeface="Arial" panose="020B0604020202020204" pitchFamily="34" charset="0"/>
              <a:buChar char="•"/>
            </a:pPr>
            <a:r>
              <a:rPr lang="en-IN" b="1" dirty="0"/>
              <a:t>Reduces Financial Loss from Fatal Typos</a:t>
            </a:r>
            <a:r>
              <a:rPr lang="en-IN" dirty="0"/>
              <a:t>: Erroneous input faults (such as typing ₹45,000 instead of ₹450) cause immediate cash drains. PayGuard checks volume multipliers against historical wallet daily averages to flag and halt massive anomalies before final settlement.</a:t>
            </a:r>
          </a:p>
          <a:p>
            <a:pPr marL="285750" indent="-285750">
              <a:buFont typeface="Arial" panose="020B0604020202020204" pitchFamily="34" charset="0"/>
              <a:buChar char="•"/>
            </a:pPr>
            <a:r>
              <a:rPr lang="en-IN" b="1" dirty="0"/>
              <a:t>Bypasses Infrastructure Friction</a:t>
            </a:r>
            <a:r>
              <a:rPr lang="en-IN" dirty="0"/>
              <a:t>: The solution requires no premium external infrastructure. It runs optimized logic steps directly through </a:t>
            </a:r>
            <a:r>
              <a:rPr lang="en-IN" b="1" dirty="0"/>
              <a:t>watsonx foundation models</a:t>
            </a:r>
            <a:r>
              <a:rPr lang="en-IN" dirty="0"/>
              <a:t>, delivering zero-cost security evaluation without high operational overhead</a:t>
            </a:r>
            <a:endParaRPr lang="en-US" b="1" dirty="0"/>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smtClean="0">
                <a:sym typeface="Times New Roman"/>
              </a:rPr>
              <a:t>Orchestrate </a:t>
            </a:r>
            <a:r>
              <a:rPr lang="en-US" sz="2400" b="1" dirty="0" smtClean="0">
                <a:sym typeface="Times New Roman"/>
              </a:rPr>
              <a:t>component </a:t>
            </a:r>
            <a:r>
              <a:rPr lang="en-US" sz="2400" b="1" dirty="0">
                <a:sym typeface="Times New Roman"/>
              </a:rPr>
              <a:t>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771747"/>
            <a:ext cx="8823960" cy="7632859"/>
          </a:xfrm>
          <a:prstGeom prst="rect">
            <a:avLst/>
          </a:prstGeom>
          <a:noFill/>
        </p:spPr>
        <p:txBody>
          <a:bodyPr wrap="square" rtlCol="0">
            <a:spAutoFit/>
          </a:bodyPr>
          <a:lstStyle/>
          <a:p>
            <a:endParaRPr lang="en-US" dirty="0"/>
          </a:p>
          <a:p>
            <a:r>
              <a:rPr lang="en-IN" dirty="0"/>
              <a:t>The PayGuard architecture consists of four native components integrated are:</a:t>
            </a:r>
          </a:p>
          <a:p>
            <a:pPr marL="342900" indent="-342900">
              <a:buAutoNum type="arabicPeriod"/>
            </a:pPr>
            <a:r>
              <a:rPr lang="en-IN" b="1" dirty="0" smtClean="0"/>
              <a:t>Orchestration </a:t>
            </a:r>
            <a:r>
              <a:rPr lang="en-IN" b="1" dirty="0"/>
              <a:t>&amp; Intelligence </a:t>
            </a:r>
            <a:r>
              <a:rPr lang="en-IN" b="1" dirty="0" smtClean="0"/>
              <a:t>Layer:</a:t>
            </a:r>
          </a:p>
          <a:p>
            <a:pPr marL="285750" indent="-285750">
              <a:buFont typeface="Arial" panose="020B0604020202020204" pitchFamily="34" charset="0"/>
              <a:buChar char="•"/>
            </a:pPr>
            <a:r>
              <a:rPr lang="en-IN" b="1" dirty="0" smtClean="0"/>
              <a:t>IBM </a:t>
            </a:r>
            <a:r>
              <a:rPr lang="en-IN" b="1" dirty="0"/>
              <a:t>watsonx Orchestrate</a:t>
            </a:r>
            <a:r>
              <a:rPr lang="en-IN" dirty="0"/>
              <a:t>: The central workspace hosting the agent's logic configuration and workspace settings.</a:t>
            </a:r>
          </a:p>
          <a:p>
            <a:pPr marL="285750" lvl="0" indent="-285750">
              <a:buFont typeface="Arial" panose="020B0604020202020204" pitchFamily="34" charset="0"/>
              <a:buChar char="•"/>
            </a:pPr>
            <a:r>
              <a:rPr lang="en-IN" b="1" dirty="0"/>
              <a:t>watsonx Foundation Models</a:t>
            </a:r>
            <a:r>
              <a:rPr lang="en-IN" dirty="0"/>
              <a:t>: The core language model engine responsible for routing context and processing multi-skill logical workflows.</a:t>
            </a:r>
          </a:p>
          <a:p>
            <a:endParaRPr lang="en-IN" b="1" dirty="0"/>
          </a:p>
          <a:p>
            <a:r>
              <a:rPr lang="en-IN" b="1" dirty="0" smtClean="0"/>
              <a:t>2</a:t>
            </a:r>
            <a:r>
              <a:rPr lang="en-IN" b="1" dirty="0"/>
              <a:t>. Knowledge Retrieval </a:t>
            </a:r>
            <a:r>
              <a:rPr lang="en-IN" b="1" dirty="0" smtClean="0"/>
              <a:t>Layer:</a:t>
            </a:r>
            <a:r>
              <a:rPr lang="en-IN" dirty="0"/>
              <a:t> </a:t>
            </a:r>
            <a:endParaRPr lang="en-IN" dirty="0" smtClean="0"/>
          </a:p>
          <a:p>
            <a:pPr marL="285750" indent="-285750">
              <a:buFont typeface="Arial" panose="020B0604020202020204" pitchFamily="34" charset="0"/>
              <a:buChar char="•"/>
            </a:pPr>
            <a:r>
              <a:rPr lang="en-IN" b="1" dirty="0" smtClean="0"/>
              <a:t>Embedded </a:t>
            </a:r>
            <a:r>
              <a:rPr lang="en-IN" b="1" dirty="0"/>
              <a:t>RAG Layer</a:t>
            </a:r>
            <a:r>
              <a:rPr lang="en-IN" dirty="0"/>
              <a:t>: The reference component that links your uploaded compliance documentation directly to the assistant's runtime layer.</a:t>
            </a:r>
          </a:p>
          <a:p>
            <a:pPr marL="285750" lvl="0" indent="-285750">
              <a:buFont typeface="Arial" panose="020B0604020202020204" pitchFamily="34" charset="0"/>
              <a:buChar char="•"/>
            </a:pPr>
            <a:r>
              <a:rPr lang="en-IN" b="1" dirty="0"/>
              <a:t>Ingested Knowledge Documents</a:t>
            </a:r>
            <a:r>
              <a:rPr lang="en-IN" dirty="0"/>
              <a:t>:</a:t>
            </a:r>
          </a:p>
          <a:p>
            <a:pPr lvl="1"/>
            <a:r>
              <a:rPr lang="en-IN" i="1" dirty="0"/>
              <a:t>Document 1</a:t>
            </a:r>
            <a:r>
              <a:rPr lang="en-IN" dirty="0"/>
              <a:t>: PayPal Payment Fraud Risk Assessment.</a:t>
            </a:r>
          </a:p>
          <a:p>
            <a:pPr lvl="1"/>
            <a:r>
              <a:rPr lang="en-IN" i="1" dirty="0"/>
              <a:t>Document 2</a:t>
            </a:r>
            <a:r>
              <a:rPr lang="en-IN" dirty="0"/>
              <a:t>: Secure Metadata Payment Flows &amp; Tokenized Risk Architectures</a:t>
            </a:r>
            <a:r>
              <a:rPr lang="en-IN" dirty="0" smtClean="0"/>
              <a:t>.</a:t>
            </a:r>
          </a:p>
          <a:p>
            <a:pPr lvl="1"/>
            <a:endParaRPr lang="en-IN" dirty="0"/>
          </a:p>
          <a:p>
            <a:r>
              <a:rPr lang="en-IN" dirty="0"/>
              <a:t> </a:t>
            </a:r>
            <a:r>
              <a:rPr lang="en-IN" b="1" dirty="0" smtClean="0"/>
              <a:t>3</a:t>
            </a:r>
            <a:r>
              <a:rPr lang="en-IN" b="1" dirty="0"/>
              <a:t>. Pipeline Execution </a:t>
            </a:r>
            <a:r>
              <a:rPr lang="en-IN" b="1" dirty="0" smtClean="0"/>
              <a:t>Framework:</a:t>
            </a:r>
            <a:r>
              <a:rPr lang="en-IN" dirty="0"/>
              <a:t> </a:t>
            </a:r>
            <a:r>
              <a:rPr lang="en-IN" b="1" dirty="0" smtClean="0"/>
              <a:t>Sequential: Skill </a:t>
            </a:r>
            <a:r>
              <a:rPr lang="en-IN" b="1" dirty="0"/>
              <a:t>Pipeline </a:t>
            </a:r>
            <a:r>
              <a:rPr lang="en-IN" b="1" dirty="0" smtClean="0"/>
              <a:t>Engine:</a:t>
            </a:r>
            <a:endParaRPr lang="en-IN" dirty="0"/>
          </a:p>
          <a:p>
            <a:pPr lvl="1"/>
            <a:r>
              <a:rPr lang="en-IN" i="1" dirty="0"/>
              <a:t>Skill 1</a:t>
            </a:r>
            <a:r>
              <a:rPr lang="en-IN" dirty="0"/>
              <a:t>: Risk Identification &amp; Anomaly Check (Telemetry rule matching).</a:t>
            </a:r>
          </a:p>
          <a:p>
            <a:pPr lvl="1"/>
            <a:r>
              <a:rPr lang="en-IN" i="1" dirty="0"/>
              <a:t>Skill 2</a:t>
            </a:r>
            <a:r>
              <a:rPr lang="en-IN" dirty="0"/>
              <a:t>: Quantitative Risk Scoring (Mathematical weight aggregation).</a:t>
            </a:r>
          </a:p>
          <a:p>
            <a:pPr lvl="1"/>
            <a:r>
              <a:rPr lang="en-IN" i="1" dirty="0"/>
              <a:t>Skill 3</a:t>
            </a:r>
            <a:r>
              <a:rPr lang="en-IN" dirty="0"/>
              <a:t>: Enforcement &amp; Strategic Mitigation Profile (Verdict output</a:t>
            </a:r>
            <a:r>
              <a:rPr lang="en-IN" dirty="0" smtClean="0"/>
              <a:t>).</a:t>
            </a:r>
          </a:p>
          <a:p>
            <a:pPr lvl="1"/>
            <a:endParaRPr lang="en-IN" dirty="0"/>
          </a:p>
          <a:p>
            <a:r>
              <a:rPr lang="en-IN" b="1" dirty="0"/>
              <a:t>4. User Interface Layer</a:t>
            </a:r>
            <a:endParaRPr lang="en-IN" dirty="0"/>
          </a:p>
          <a:p>
            <a:pPr marL="285750" lvl="0" indent="-285750">
              <a:buFont typeface="Arial" panose="020B0604020202020204" pitchFamily="34" charset="0"/>
              <a:buChar char="•"/>
            </a:pPr>
            <a:r>
              <a:rPr lang="en-IN" b="1" dirty="0"/>
              <a:t>Frontend UI Dashboard</a:t>
            </a:r>
            <a:r>
              <a:rPr lang="en-IN" dirty="0"/>
              <a:t>: The administrative monitoring web screen styled via </a:t>
            </a:r>
            <a:r>
              <a:rPr lang="en-IN" b="1" dirty="0"/>
              <a:t>HTML5</a:t>
            </a:r>
            <a:r>
              <a:rPr lang="en-IN" dirty="0"/>
              <a:t> and </a:t>
            </a:r>
            <a:r>
              <a:rPr lang="en-IN" b="1" dirty="0"/>
              <a:t>CSS3</a:t>
            </a:r>
            <a:r>
              <a:rPr lang="en-IN" dirty="0"/>
              <a:t>.</a:t>
            </a:r>
          </a:p>
          <a:p>
            <a:pPr marL="285750" lvl="0" indent="-285750">
              <a:buFont typeface="Arial" panose="020B0604020202020204" pitchFamily="34" charset="0"/>
              <a:buChar char="•"/>
            </a:pPr>
            <a:r>
              <a:rPr lang="en-IN" b="1" dirty="0"/>
              <a:t>Telemetry Terminal Module</a:t>
            </a:r>
            <a:r>
              <a:rPr lang="en-IN" dirty="0"/>
              <a:t>: A </a:t>
            </a:r>
            <a:r>
              <a:rPr lang="en-IN" b="1" dirty="0"/>
              <a:t>JavaScript (ES6+)</a:t>
            </a:r>
            <a:r>
              <a:rPr lang="en-IN" dirty="0"/>
              <a:t> browser console layout that displays simulated security tracking events and active rules like Rule 101.</a:t>
            </a:r>
          </a:p>
          <a:p>
            <a:pPr marL="285750" lvl="0" indent="-285750">
              <a:buFont typeface="Arial" panose="020B0604020202020204" pitchFamily="34" charset="0"/>
              <a:buChar char="•"/>
            </a:pPr>
            <a:r>
              <a:rPr lang="en-IN" b="1" dirty="0"/>
              <a:t>Floating Chat Widget Launcher</a:t>
            </a:r>
            <a:r>
              <a:rPr lang="en-IN" dirty="0"/>
              <a:t>: The interactive messaging window positioned in the bottom-right corner for live scenario entry.</a:t>
            </a:r>
          </a:p>
          <a:p>
            <a:r>
              <a:rPr lang="en-IN" dirty="0"/>
              <a:t> </a:t>
            </a:r>
          </a:p>
          <a:p>
            <a:endParaRPr lang="en-US" dirty="0" smtClean="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7018" y="771747"/>
            <a:ext cx="8742218" cy="59539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6832" y="211427"/>
            <a:ext cx="9351241" cy="799956"/>
          </a:xfrm>
        </p:spPr>
        <p:txBody>
          <a:bodyPr>
            <a:normAutofit/>
          </a:bodyPr>
          <a:lstStyle/>
          <a:p>
            <a:r>
              <a:rPr lang="en-US" sz="2800" b="1" dirty="0" smtClean="0">
                <a:solidFill>
                  <a:schemeClr val="tx1"/>
                </a:solidFill>
                <a:latin typeface="Arial" panose="020B0604020202020204" pitchFamily="34" charset="0"/>
                <a:cs typeface="Arial" panose="020B0604020202020204" pitchFamily="34" charset="0"/>
              </a:rPr>
              <a:t>Screenshots:</a:t>
            </a:r>
            <a:endParaRPr lang="en-IN" sz="2800" b="1" dirty="0">
              <a:solidFill>
                <a:schemeClr val="tx1"/>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138" y="417845"/>
            <a:ext cx="5889390" cy="428684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54936"/>
            <a:ext cx="4286509" cy="205327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6566" y="4554936"/>
            <a:ext cx="5372905" cy="1903514"/>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79528" y="4614540"/>
            <a:ext cx="2812471" cy="1934063"/>
          </a:xfrm>
          <a:prstGeom prst="rect">
            <a:avLst/>
          </a:prstGeom>
        </p:spPr>
      </p:pic>
    </p:spTree>
    <p:extLst>
      <p:ext uri="{BB962C8B-B14F-4D97-AF65-F5344CB8AC3E}">
        <p14:creationId xmlns:p14="http://schemas.microsoft.com/office/powerpoint/2010/main" val="3954277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848662" cy="1700213"/>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1646064"/>
            <a:ext cx="4229098" cy="28199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1891" y="1700213"/>
            <a:ext cx="4029554" cy="2765751"/>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1445" y="131289"/>
            <a:ext cx="3709633" cy="3137847"/>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0276" y="3516259"/>
            <a:ext cx="3981807" cy="3341741"/>
          </a:xfrm>
          <a:prstGeom prst="rect">
            <a:avLst/>
          </a:prstGeom>
        </p:spPr>
      </p:pic>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3991" y="3724479"/>
            <a:ext cx="5068007" cy="3262109"/>
          </a:xfrm>
          <a:prstGeom prst="rect">
            <a:avLst/>
          </a:prstGeom>
        </p:spPr>
      </p:pic>
    </p:spTree>
    <p:extLst>
      <p:ext uri="{BB962C8B-B14F-4D97-AF65-F5344CB8AC3E}">
        <p14:creationId xmlns:p14="http://schemas.microsoft.com/office/powerpoint/2010/main" val="1633853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541" y="169863"/>
            <a:ext cx="7189932" cy="896937"/>
          </a:xfrm>
        </p:spPr>
        <p:txBody>
          <a:bodyPr>
            <a:noAutofit/>
          </a:bodyPr>
          <a:lstStyle/>
          <a:p>
            <a:r>
              <a:rPr lang="en-US" dirty="0" smtClean="0">
                <a:solidFill>
                  <a:schemeClr val="tx1"/>
                </a:solidFill>
                <a:latin typeface="Arial" panose="020B0604020202020204" pitchFamily="34" charset="0"/>
                <a:cs typeface="Arial" panose="020B0604020202020204" pitchFamily="34" charset="0"/>
              </a:rPr>
              <a:t>Frontend view of PayGuard after deployment:</a:t>
            </a:r>
            <a:endParaRPr lang="en-IN" dirty="0">
              <a:solidFill>
                <a:schemeClr val="tx1"/>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45" y="1066800"/>
            <a:ext cx="7523019" cy="368530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1273" y="3827204"/>
            <a:ext cx="3275367" cy="2708533"/>
          </a:xfrm>
          <a:prstGeom prst="rect">
            <a:avLst/>
          </a:prstGeom>
        </p:spPr>
      </p:pic>
    </p:spTree>
    <p:extLst>
      <p:ext uri="{BB962C8B-B14F-4D97-AF65-F5344CB8AC3E}">
        <p14:creationId xmlns:p14="http://schemas.microsoft.com/office/powerpoint/2010/main" val="3613531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475488" y="927368"/>
            <a:ext cx="7406640" cy="5047536"/>
          </a:xfrm>
          <a:prstGeom prst="rect">
            <a:avLst/>
          </a:prstGeom>
          <a:noFill/>
        </p:spPr>
        <p:txBody>
          <a:bodyPr wrap="square" rtlCol="0">
            <a:spAutoFit/>
          </a:bodyPr>
          <a:lstStyle/>
          <a:p>
            <a:r>
              <a:rPr lang="en-US" b="1" dirty="0"/>
              <a:t>Role of Agentic </a:t>
            </a:r>
            <a:r>
              <a:rPr lang="en-US" b="1" dirty="0" smtClean="0"/>
              <a:t>AI in </a:t>
            </a:r>
            <a:r>
              <a:rPr lang="en-IN" b="1" dirty="0"/>
              <a:t>PayGuard </a:t>
            </a:r>
            <a:r>
              <a:rPr lang="en-US" b="1" dirty="0" smtClean="0"/>
              <a:t>:</a:t>
            </a:r>
          </a:p>
          <a:p>
            <a:r>
              <a:rPr lang="en-IN" dirty="0"/>
              <a:t>Agentic AI enables PayGuard to function as an intelligent, autonomous fraud risk engine rather than a simple rule-based </a:t>
            </a:r>
            <a:r>
              <a:rPr lang="en-IN" dirty="0" err="1"/>
              <a:t>chatbot</a:t>
            </a:r>
            <a:r>
              <a:rPr lang="en-IN" dirty="0"/>
              <a:t>. Using IBM watsonx Orchestrate and IBM watsonx Foundation Models, it coordinates a sequential pipeline of specialized skills to deliver real-time payment risk verdicts without human intervention. Each skill performs a distinct role Skill 1 detects anomalies and maps transaction metadata against threat rules (Rule 101: Time Threat, Rule 102: Velocity Threat), Skill 2 aggregates precise mathematical risk weights (+30, +35, +22, +40, +18, +25) sourced directly from the RAG knowledge layer, and Skill 3 translates the cumulative score into strict enforcement actions such as direct clearing, MFA challenges, or full biometric freezes. This multi-skill agentic approach ensures structured, hallucination-free decision-making by grounding every verdict in ingested compliance documentation rather than model guesswork. Agentic AI also brings context awareness to the system understanding transaction signals like unusual device profiles, late-night activity windows, geo-velocity anomalies, and clipboard-based input patterns to generate a risk profile tailored to each session. A critical agentic capability embedded in PayGuard is its absolute PII filter, which autonomously enforces data privacy by blocking any attempt to extract or retain account numbers, OTPs, cardholder names, or card PAN lines before they enter the pipeline. The skills communicate sequentially, with each layer's output feeding the next, enabling compounding intelligence across the detection, scoring, and enforcement cycle. Overall, Agentic AI makes PayGuard proactive, privacy-first, and verdict-driven acting like a smart digital payments investigator that autonomously protects users from fraud, transaction errors, and social engineering attacks in real time.</a:t>
            </a:r>
          </a:p>
          <a:p>
            <a:endParaRPr lang="en-US" b="1"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666404" y="1082317"/>
            <a:ext cx="11301984" cy="5909310"/>
          </a:xfrm>
          <a:prstGeom prst="rect">
            <a:avLst/>
          </a:prstGeom>
          <a:noFill/>
        </p:spPr>
        <p:txBody>
          <a:bodyPr wrap="square" rtlCol="0">
            <a:spAutoFit/>
          </a:bodyPr>
          <a:lstStyle/>
          <a:p>
            <a:r>
              <a:rPr lang="en-IN" dirty="0"/>
              <a:t>PayGuard stands out through several distinct architectural innovations designed specifically for modern digital transaction environments:</a:t>
            </a:r>
          </a:p>
          <a:p>
            <a:endParaRPr lang="en-IN" b="1" dirty="0" smtClean="0"/>
          </a:p>
          <a:p>
            <a:pPr marL="285750" indent="-285750">
              <a:buFont typeface="Arial" panose="020B0604020202020204" pitchFamily="34" charset="0"/>
              <a:buChar char="•"/>
            </a:pPr>
            <a:r>
              <a:rPr lang="en-IN" b="1" dirty="0" smtClean="0"/>
              <a:t>True </a:t>
            </a:r>
            <a:r>
              <a:rPr lang="en-IN" b="1" dirty="0"/>
              <a:t>Identity-Less Fraud Auditing (Zero-PII </a:t>
            </a:r>
            <a:r>
              <a:rPr lang="en-IN" b="1" dirty="0" smtClean="0"/>
              <a:t>Isolation)</a:t>
            </a:r>
            <a:r>
              <a:rPr lang="en-IN" dirty="0" smtClean="0"/>
              <a:t>: Traditional </a:t>
            </a:r>
            <a:r>
              <a:rPr lang="en-IN" dirty="0"/>
              <a:t>fraud engines rely on gathering as much personal data as possible (names, card numbers, device locations) to verify trust. PayGuard flips this paradigm. It completely decouples risk estimation from identity by running a mandatory compliance scrubbing layer at inception. It proves that a transaction can be validated with high precision using pure, non-identifiable structural metadata vectors alone</a:t>
            </a:r>
            <a:r>
              <a:rPr lang="en-IN" dirty="0" smtClean="0"/>
              <a:t>.</a:t>
            </a:r>
          </a:p>
          <a:p>
            <a:endParaRPr lang="en-IN" dirty="0"/>
          </a:p>
          <a:p>
            <a:pPr marL="285750" indent="-285750">
              <a:buFont typeface="Arial" panose="020B0604020202020204" pitchFamily="34" charset="0"/>
              <a:buChar char="•"/>
            </a:pPr>
            <a:r>
              <a:rPr lang="en-IN" b="1" dirty="0"/>
              <a:t>Linear 3-Skill Pipeline </a:t>
            </a:r>
            <a:r>
              <a:rPr lang="en-IN" b="1" dirty="0" smtClean="0"/>
              <a:t>Architecture</a:t>
            </a:r>
            <a:r>
              <a:rPr lang="en-IN" dirty="0" smtClean="0"/>
              <a:t>: Rather </a:t>
            </a:r>
            <a:r>
              <a:rPr lang="en-IN" dirty="0"/>
              <a:t>than processing risk in a single, unstructured pass, PayGuard forces watsonx foundation models into a strict, sequential three-stage tool execution loop (Identification ➔ Mathematical Scoring ➔ Enforcement Action). This enforces reliable, audit-ready operational tracing and eliminates the risk of logical jumps or data hallucinations during high-velocity evaluations</a:t>
            </a:r>
            <a:r>
              <a:rPr lang="en-IN" dirty="0" smtClean="0"/>
              <a:t>.</a:t>
            </a:r>
          </a:p>
          <a:p>
            <a:endParaRPr lang="en-IN" dirty="0"/>
          </a:p>
          <a:p>
            <a:pPr marL="285750" indent="-285750">
              <a:buFont typeface="Arial" panose="020B0604020202020204" pitchFamily="34" charset="0"/>
              <a:buChar char="•"/>
            </a:pPr>
            <a:r>
              <a:rPr lang="en-IN" b="1" dirty="0"/>
              <a:t> Deterministic RAG-Driven Score </a:t>
            </a:r>
            <a:r>
              <a:rPr lang="en-IN" b="1" dirty="0" smtClean="0"/>
              <a:t>Aggregation</a:t>
            </a:r>
            <a:r>
              <a:rPr lang="en-IN" dirty="0" smtClean="0"/>
              <a:t>: Most </a:t>
            </a:r>
            <a:r>
              <a:rPr lang="en-IN" dirty="0"/>
              <a:t>AI fraud tools use predictive, probabilistic guessing to determine if a transaction is a scam. PayGuard introduces uniqueness by embedding a strict Retrieval-Augmented Generation (RAG) framework. The agent extracts hardcoded, exact corporate compliance threat multipliers (+30, +35, +22) directly from ingested policy manuals, combining deterministic rulebook accuracy with fluent semantic understanding</a:t>
            </a:r>
            <a:r>
              <a:rPr lang="en-IN" dirty="0" smtClean="0"/>
              <a:t>.</a:t>
            </a:r>
          </a:p>
          <a:p>
            <a:endParaRPr lang="en-IN" dirty="0"/>
          </a:p>
          <a:p>
            <a:pPr marL="285750" indent="-285750">
              <a:buFont typeface="Arial" panose="020B0604020202020204" pitchFamily="34" charset="0"/>
              <a:buChar char="•"/>
            </a:pPr>
            <a:r>
              <a:rPr lang="en-IN" b="1" dirty="0"/>
              <a:t>Real-Time Telemetry and Biometric Behavior </a:t>
            </a:r>
            <a:r>
              <a:rPr lang="en-IN" b="1" dirty="0" smtClean="0"/>
              <a:t>Profiling</a:t>
            </a:r>
            <a:r>
              <a:rPr lang="en-IN" dirty="0" smtClean="0"/>
              <a:t>: PayGuard </a:t>
            </a:r>
            <a:r>
              <a:rPr lang="en-IN" dirty="0"/>
              <a:t>moves beyond simple account balance checks by integrating advanced, unidentifiable behavioral </a:t>
            </a:r>
            <a:r>
              <a:rPr lang="en-IN" dirty="0" smtClean="0"/>
              <a:t>indicators:</a:t>
            </a:r>
          </a:p>
          <a:p>
            <a:endParaRPr lang="en-IN" dirty="0" smtClean="0"/>
          </a:p>
          <a:p>
            <a:pPr marL="285750" lvl="0" indent="-285750">
              <a:buFont typeface="Wingdings" panose="05000000000000000000" pitchFamily="2" charset="2"/>
              <a:buChar char="§"/>
            </a:pPr>
            <a:r>
              <a:rPr lang="en-IN" b="1" dirty="0" smtClean="0"/>
              <a:t>Rule 202 (Behavioral Biometrics)</a:t>
            </a:r>
            <a:r>
              <a:rPr lang="en-IN" dirty="0" smtClean="0"/>
              <a:t>: Evaluates input cadence deviations and flags copy-pasted payment amounts. This intercepts automated background script hijacks without monitoring the user's personal files.</a:t>
            </a:r>
          </a:p>
          <a:p>
            <a:pPr lvl="0"/>
            <a:endParaRPr lang="en-IN" dirty="0"/>
          </a:p>
          <a:p>
            <a:pPr marL="285750" lvl="0" indent="-285750">
              <a:buFont typeface="Wingdings" panose="05000000000000000000" pitchFamily="2" charset="2"/>
              <a:buChar char="§"/>
            </a:pPr>
            <a:r>
              <a:rPr lang="en-IN" b="1" dirty="0"/>
              <a:t>Velocity Surge Interception</a:t>
            </a:r>
            <a:r>
              <a:rPr lang="en-IN" dirty="0"/>
              <a:t>: Automatically calculates sudden multipliers against historical averages to instantly halt "fat-finger" typo crises before settlement occurs.</a:t>
            </a:r>
          </a:p>
          <a:p>
            <a:r>
              <a:rPr lang="en-IN" dirty="0"/>
              <a:t> </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smtClean="0">
                <a:solidFill>
                  <a:srgbClr val="2B3541"/>
                </a:solidFill>
                <a:latin typeface="Times New Roman"/>
                <a:ea typeface="Times New Roman"/>
                <a:cs typeface="Times New Roman"/>
                <a:sym typeface="Times New Roman"/>
              </a:rPr>
              <a:t>–</a:t>
            </a:r>
            <a:r>
              <a:rPr lang="en-US" sz="1850" b="1" dirty="0" err="1" smtClean="0">
                <a:solidFill>
                  <a:srgbClr val="2B3541"/>
                </a:solidFill>
                <a:latin typeface="Times New Roman"/>
                <a:ea typeface="Times New Roman"/>
                <a:cs typeface="Times New Roman"/>
                <a:sym typeface="Times New Roman"/>
                <a:hlinkClick r:id="rId3"/>
              </a:rPr>
              <a:t>PayGuardGithubLink</a:t>
            </a:r>
            <a:r>
              <a:rPr lang="en-US" sz="1850" b="1" dirty="0" smtClean="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Make sure </a:t>
            </a:r>
            <a:r>
              <a:rPr lang="en-US" sz="1850" b="1" dirty="0">
                <a:solidFill>
                  <a:srgbClr val="2B3541"/>
                </a:solidFill>
                <a:latin typeface="Times New Roman"/>
                <a:ea typeface="Times New Roman"/>
                <a:cs typeface="Times New Roman"/>
                <a:sym typeface="Times New Roman"/>
              </a:rPr>
              <a:t>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124746"/>
            <a:ext cx="9269167" cy="4805012"/>
          </a:xfrm>
          <a:prstGeom prst="rect">
            <a:avLst/>
          </a:prstGeom>
          <a:noFill/>
          <a:ln>
            <a:noFill/>
          </a:ln>
        </p:spPr>
        <p:txBody>
          <a:bodyPr spcFirstLastPara="1" wrap="square" lIns="0" tIns="0" rIns="0" bIns="0" anchor="t" anchorCtr="0">
            <a:noAutofit/>
          </a:bodyPr>
          <a:lstStyle/>
          <a:p>
            <a:r>
              <a:rPr lang="en-IN" b="1" dirty="0"/>
              <a:t>1. True RESTful API Gateway </a:t>
            </a:r>
            <a:r>
              <a:rPr lang="en-IN" b="1" dirty="0" smtClean="0"/>
              <a:t>Integration:</a:t>
            </a:r>
            <a:endParaRPr lang="en-IN" dirty="0"/>
          </a:p>
          <a:p>
            <a:pPr marL="285750" lvl="0" indent="-285750">
              <a:buFont typeface="Arial" panose="020B0604020202020204" pitchFamily="34" charset="0"/>
              <a:buChar char="•"/>
            </a:pPr>
            <a:r>
              <a:rPr lang="en-IN" b="1" dirty="0"/>
              <a:t>Production Infrastructure</a:t>
            </a:r>
            <a:r>
              <a:rPr lang="en-IN" dirty="0"/>
              <a:t>: Transition from free-tier local browser simulations to an enterprise-grade API layer.</a:t>
            </a:r>
          </a:p>
          <a:p>
            <a:pPr marL="285750" lvl="0" indent="-285750">
              <a:buFont typeface="Arial" panose="020B0604020202020204" pitchFamily="34" charset="0"/>
              <a:buChar char="•"/>
            </a:pPr>
            <a:r>
              <a:rPr lang="en-IN" b="1" dirty="0"/>
              <a:t>Live Protocol Codes</a:t>
            </a:r>
            <a:r>
              <a:rPr lang="en-IN" dirty="0"/>
              <a:t>: Emit operational network headers directly to banking ledger cores (HTTP 200, HTTP 403, HTTP 422).</a:t>
            </a:r>
          </a:p>
          <a:p>
            <a:pPr marL="285750" lvl="0" indent="-285750">
              <a:buFont typeface="Arial" panose="020B0604020202020204" pitchFamily="34" charset="0"/>
              <a:buChar char="•"/>
            </a:pPr>
            <a:r>
              <a:rPr lang="en-IN" b="1" dirty="0"/>
              <a:t>Automated Webhooks</a:t>
            </a:r>
            <a:r>
              <a:rPr lang="en-IN" dirty="0"/>
              <a:t>: Deploy active webhook notification relays to trigger instant out-of-band biometric authentication prompts on user devices.</a:t>
            </a:r>
          </a:p>
          <a:p>
            <a:r>
              <a:rPr lang="en-IN" dirty="0"/>
              <a:t> </a:t>
            </a:r>
          </a:p>
          <a:p>
            <a:r>
              <a:rPr lang="en-IN" b="1" dirty="0"/>
              <a:t>2. Advanced Multi-Agent Collaborative </a:t>
            </a:r>
            <a:r>
              <a:rPr lang="en-IN" b="1" dirty="0" smtClean="0"/>
              <a:t>Networks:</a:t>
            </a:r>
            <a:endParaRPr lang="en-IN" dirty="0"/>
          </a:p>
          <a:p>
            <a:pPr marL="285750" lvl="0" indent="-285750">
              <a:buFont typeface="Arial" panose="020B0604020202020204" pitchFamily="34" charset="0"/>
              <a:buChar char="•"/>
            </a:pPr>
            <a:r>
              <a:rPr lang="en-IN" b="1" dirty="0"/>
              <a:t>Specialized Sub-Agents</a:t>
            </a:r>
            <a:r>
              <a:rPr lang="en-IN" dirty="0"/>
              <a:t>: Expand the single agent into a team of focused sub-agents via LangFlow.</a:t>
            </a:r>
          </a:p>
          <a:p>
            <a:pPr marL="285750" lvl="0" indent="-285750">
              <a:buFont typeface="Arial" panose="020B0604020202020204" pitchFamily="34" charset="0"/>
              <a:buChar char="•"/>
            </a:pPr>
            <a:r>
              <a:rPr lang="en-IN" b="1" dirty="0"/>
              <a:t>Dedicated Task Routing</a:t>
            </a:r>
            <a:r>
              <a:rPr lang="en-IN" dirty="0"/>
              <a:t>: Assign separate sub-agents to handle incoming network metadata sanitization, rule weight calculations, and legal compliance log management independently.</a:t>
            </a:r>
          </a:p>
          <a:p>
            <a:pPr marL="285750" lvl="0" indent="-285750">
              <a:buFont typeface="Arial" panose="020B0604020202020204" pitchFamily="34" charset="0"/>
              <a:buChar char="•"/>
            </a:pPr>
            <a:r>
              <a:rPr lang="en-IN" b="1" dirty="0"/>
              <a:t>Cross-Verification Loops</a:t>
            </a:r>
            <a:r>
              <a:rPr lang="en-IN" dirty="0"/>
              <a:t>: Implement secondary consensus validation layers among agents to minimize false positives prior to issuing transaction holds.</a:t>
            </a:r>
          </a:p>
          <a:p>
            <a:r>
              <a:rPr lang="en-IN" dirty="0"/>
              <a:t> </a:t>
            </a:r>
          </a:p>
          <a:p>
            <a:r>
              <a:rPr lang="en-IN" b="1" dirty="0"/>
              <a:t>3. Native Database Integration &amp; Real-Time </a:t>
            </a:r>
            <a:r>
              <a:rPr lang="en-IN" b="1" dirty="0" smtClean="0"/>
              <a:t>Tracking:</a:t>
            </a:r>
            <a:endParaRPr lang="en-IN" dirty="0"/>
          </a:p>
          <a:p>
            <a:pPr marL="285750" lvl="0" indent="-285750">
              <a:buFont typeface="Arial" panose="020B0604020202020204" pitchFamily="34" charset="0"/>
              <a:buChar char="•"/>
            </a:pPr>
            <a:r>
              <a:rPr lang="en-IN" b="1" dirty="0"/>
              <a:t>Persistent Storage Layers</a:t>
            </a:r>
            <a:r>
              <a:rPr lang="en-IN" dirty="0"/>
              <a:t>: Replace temporary in-memory session arrays with persistent server-side storage architectures.</a:t>
            </a:r>
          </a:p>
          <a:p>
            <a:pPr marL="285750" lvl="0" indent="-285750">
              <a:buFont typeface="Arial" panose="020B0604020202020204" pitchFamily="34" charset="0"/>
              <a:buChar char="•"/>
            </a:pPr>
            <a:r>
              <a:rPr lang="en-IN" b="1" dirty="0"/>
              <a:t>Dynamic Wallet Baselines</a:t>
            </a:r>
            <a:r>
              <a:rPr lang="en-IN" dirty="0"/>
              <a:t>: Compute historical daily averages dynamically on live transaction feeds rather than mocking transaction volumes.</a:t>
            </a:r>
          </a:p>
          <a:p>
            <a:pPr marL="285750" lvl="0" indent="-285750">
              <a:buFont typeface="Arial" panose="020B0604020202020204" pitchFamily="34" charset="0"/>
              <a:buChar char="•"/>
            </a:pPr>
            <a:r>
              <a:rPr lang="en-IN" b="1" dirty="0"/>
              <a:t>Sub-Second Telemetry Audits</a:t>
            </a:r>
            <a:r>
              <a:rPr lang="en-IN" dirty="0"/>
              <a:t>: Track rapid velocity spikes and geo-velocity displacement bounds across true real-time multi-channel payment streams.</a:t>
            </a:r>
          </a:p>
          <a:p>
            <a:r>
              <a:rPr lang="en-IN" dirty="0"/>
              <a:t> </a:t>
            </a:r>
          </a:p>
          <a:p>
            <a:r>
              <a:rPr lang="en-IN" dirty="0"/>
              <a:t> </a:t>
            </a:r>
          </a:p>
          <a:p>
            <a:pPr marL="0" marR="0" lvl="0" indent="0" algn="l" rtl="0">
              <a:lnSpc>
                <a:spcPct val="162162"/>
              </a:lnSpc>
              <a:spcBef>
                <a:spcPts val="0"/>
              </a:spcBef>
              <a:spcAft>
                <a:spcPts val="0"/>
              </a:spcAft>
              <a:buClr>
                <a:srgbClr val="2B3541"/>
              </a:buClr>
              <a:buSzPts val="1850"/>
              <a:buFont typeface="Times New Roman"/>
              <a:buNone/>
            </a:pPr>
            <a:endParaRPr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1293</TotalTime>
  <Words>1406</Words>
  <Application>Microsoft Office PowerPoint</Application>
  <PresentationFormat>Widescreen</PresentationFormat>
  <Paragraphs>130</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42</cp:revision>
  <dcterms:created xsi:type="dcterms:W3CDTF">2025-07-08T05:06:56Z</dcterms:created>
  <dcterms:modified xsi:type="dcterms:W3CDTF">2026-06-04T13:52:58Z</dcterms:modified>
</cp:coreProperties>
</file>